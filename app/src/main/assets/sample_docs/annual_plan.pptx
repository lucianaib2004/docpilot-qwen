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1357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3.1</c:v>
                </c:pt>
                <c:pt idx="2">
                  <c:v>3.3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</c:v>
                </c:pt>
                <c:pt idx="1">
                  <c:v>0.34</c:v>
                </c:pt>
                <c:pt idx="2">
                  <c:v>0.39</c:v>
                </c:pt>
                <c:pt idx="3">
                  <c:v>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1357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2024A</c:v>
                  </c:pt>
                  <c:pt idx="1">
                    <c:v>2025A</c:v>
                  </c:pt>
                  <c:pt idx="2">
                    <c:v>2026E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10.9</c:v>
                </c:pt>
                <c:pt idx="1">
                  <c:v>12.8</c:v>
                </c:pt>
                <c:pt idx="2">
                  <c:v>15.5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2024A</c:v>
                  </c:pt>
                  <c:pt idx="1">
                    <c:v>2025A</c:v>
                  </c:pt>
                  <c:pt idx="2">
                    <c:v>2026E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1.08</c:v>
                </c:pt>
                <c:pt idx="1">
                  <c:v>1.48</c:v>
                </c:pt>
                <c:pt idx="2">
                  <c:v>1.95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渠道预算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57A6"/>
              </a:solidFill>
              <a:effectLst/>
            </c:spPr>
          </c:dPt>
          <c:dPt>
            <c:idx val="1"/>
            <c:bubble3D val="0"/>
            <c:spPr>
              <a:solidFill>
                <a:srgbClr val="4AA3FF"/>
              </a:solidFill>
              <a:effectLst/>
            </c:spPr>
          </c:dPt>
          <c:dPt>
            <c:idx val="2"/>
            <c:bubble3D val="0"/>
            <c:spPr>
              <a:solidFill>
                <a:srgbClr val="23B7A8"/>
              </a:solidFill>
              <a:effectLst/>
            </c:spPr>
          </c:dPt>
          <c:dPt>
            <c:idx val="3"/>
            <c:bubble3D val="0"/>
            <c:spPr>
              <a:solidFill>
                <a:srgbClr val="F0B429"/>
              </a:solidFill>
              <a:effectLst/>
            </c:spPr>
          </c:dPt>
          <c:dPt>
            <c:idx val="4"/>
            <c:bubble3D val="0"/>
            <c:spPr>
              <a:solidFill>
                <a:srgbClr val="F27C3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内容/品牌</c:v>
                </c:pt>
                <c:pt idx="1">
                  <c:v>数字投放</c:v>
                </c:pt>
                <c:pt idx="2">
                  <c:v>伙伴生态</c:v>
                </c:pt>
                <c:pt idx="3">
                  <c:v>线下活动</c:v>
                </c:pt>
                <c:pt idx="4">
                  <c:v>客户运营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22</c:v>
                </c:pt>
                <c:pt idx="1">
                  <c:v>28</c:v>
                </c:pt>
                <c:pt idx="2">
                  <c:v>24</c:v>
                </c:pt>
                <c:pt idx="3">
                  <c:v>14</c:v>
                </c:pt>
                <c:pt idx="4">
                  <c:v>12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123E73"/>
          </a:solidFill>
          <a:ln w="12700">
            <a:solidFill>
              <a:srgbClr val="123E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4206240" cy="4206240"/>
          </a:xfrm>
          <a:prstGeom prst="arc">
            <a:avLst/>
          </a:prstGeom>
          <a:solidFill>
            <a:srgbClr val="4AA3FF">
              <a:alpha val="0"/>
            </a:srgbClr>
          </a:solidFill>
          <a:ln w="20320">
            <a:solidFill>
              <a:srgbClr val="4AA3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371600"/>
            <a:ext cx="3108960" cy="3108960"/>
          </a:xfrm>
          <a:prstGeom prst="arc">
            <a:avLst/>
          </a:prstGeom>
          <a:solidFill>
            <a:srgbClr val="F0B429">
              <a:alpha val="0"/>
            </a:srgbClr>
          </a:solidFill>
          <a:ln w="16510">
            <a:solidFill>
              <a:srgbClr val="F0B429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65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年度经营计划汇报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2770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Annual Business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3246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面向增长、效率与组织能力的年度经营蓝图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544068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XX公司｜2026年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5074920"/>
            <a:ext cx="3246120" cy="384048"/>
          </a:xfrm>
          <a:prstGeom prst="rect">
            <a:avLst/>
          </a:prstGeom>
          <a:solidFill>
            <a:srgbClr val="1B5FA7"/>
          </a:solidFill>
          <a:ln w="7620">
            <a:solidFill>
              <a:srgbClr val="1B5FA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经营目标  ·  战略路径  ·  资源保障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汇报逻辑：从复盘到行动闭环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0552" y="3163824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70832" y="3163824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11112" y="3163824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51392" y="3163824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4672" y="2176272"/>
            <a:ext cx="1536192" cy="621792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4672" y="3035808"/>
            <a:ext cx="15361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经营复盘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盘点增长质量、盈利能力与组织短板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044952" y="2176272"/>
            <a:ext cx="1536192" cy="621792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44952" y="3035808"/>
            <a:ext cx="15361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环境研判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识别市场趋势、竞争压力与关键机会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285232" y="2176272"/>
            <a:ext cx="1536192" cy="621792"/>
          </a:xfrm>
          <a:prstGeom prst="rect">
            <a:avLst/>
          </a:prstGeom>
          <a:solidFill>
            <a:srgbClr val="F0B429"/>
          </a:solidFill>
          <a:ln w="7620">
            <a:solidFill>
              <a:srgbClr val="F0B42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85232" y="3035808"/>
            <a:ext cx="15361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明确年度收入、利润与运营核心目标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25512" y="2176272"/>
            <a:ext cx="1536192" cy="621792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25512" y="3035808"/>
            <a:ext cx="15361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策略打法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围绕业务、产品、渠道与交付制定路径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765792" y="2176272"/>
            <a:ext cx="1536192" cy="621792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765792" y="3035808"/>
            <a:ext cx="15361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保障机制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落地项目、资源、风险与管理节奏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77240" y="4892040"/>
            <a:ext cx="1069848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892040"/>
            <a:ext cx="73152" cy="8229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504748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本页目的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" y="53949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用“复盘 - 研判 - 目标 - 策略 - 保障”的结构，让年度经营计划从目标宣示转为可执行、可追踪、可复盘的管理闭环。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上一年度经营复盘：增长有韧性，但结构需优化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12.8亿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+18%，完成预算 104%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39696" y="1773936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035808" y="1417320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0" y="18013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B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+2.1pp，高毛利产品占比提升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17136" y="1773936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B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+2.1pp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13248" y="1417320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77840" y="18013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1.48亿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77840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费用率下降带来经营杠杆释放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94576" y="1773936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+26%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790688" y="1417320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18013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55280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客户满意度稳定，交付周期仍需压缩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72016" y="1773936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</a:t>
            </a:r>
            <a:endParaRPr lang="en-US" sz="7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8368" y="2971800"/>
          <a:ext cx="49377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6126480" y="2971800"/>
            <a:ext cx="5440680" cy="24871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2971800"/>
            <a:ext cx="73152" cy="2487168"/>
          </a:xfrm>
          <a:prstGeom prst="rect">
            <a:avLst/>
          </a:prstGeom>
          <a:solidFill>
            <a:srgbClr val="1357A6"/>
          </a:solidFill>
          <a:ln w="12700">
            <a:solidFill>
              <a:srgbClr val="1357A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27648" y="312724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27648" y="3474720"/>
            <a:ext cx="50749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收入保持稳定增长，但大客户依赖度偏高。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毛利率改善主要来自产品结构与交付效率。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新客获客成本上升，渠道打法需要精细化。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组织协同效率与项目管理成熟度仍是瓶颈。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658368" y="56875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注：示例数据，请替换为公司实际经营口径。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外部环境研判：机会窗口仍在，但增长方式要升级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105156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09928" y="1371600"/>
            <a:ext cx="278892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变化信号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98848" y="1371600"/>
            <a:ext cx="265176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经营启示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755648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709928" y="1755648"/>
            <a:ext cx="27889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预算更谨慎，客户更关注ROI与确定性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498848" y="1755648"/>
            <a:ext cx="2651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价值型销售、行业方案化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58368" y="2322576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709928" y="2322576"/>
            <a:ext cx="27889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头部玩家加速下沉，价格竞争加剧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498848" y="2322576"/>
            <a:ext cx="2651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差异化产品与服务标准化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58368" y="2889504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709928" y="2889504"/>
            <a:ext cx="27889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AI与自动化进入规模化应用阶段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498848" y="2889504"/>
            <a:ext cx="2651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把效率工具融入交付链条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1051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渠道变化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709928" y="3456432"/>
            <a:ext cx="278892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线上线索质量分化，私域与伙伴生态升温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498848" y="3456432"/>
            <a:ext cx="2651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建立多渠道可归因增长模型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635240" y="1371600"/>
            <a:ext cx="3337560" cy="329184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年度经营命题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35240" y="1965960"/>
            <a:ext cx="3337560" cy="749808"/>
          </a:xfrm>
          <a:prstGeom prst="rect">
            <a:avLst/>
          </a:prstGeom>
          <a:solidFill>
            <a:srgbClr val="FFF4D6"/>
          </a:solidFill>
          <a:ln w="7620"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增长质量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从“规模优先”转向“利润与现金流并重”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2990088"/>
            <a:ext cx="3337560" cy="749808"/>
          </a:xfrm>
          <a:prstGeom prst="rect">
            <a:avLst/>
          </a:prstGeom>
          <a:solidFill>
            <a:srgbClr val="EAF4FF"/>
          </a:solidFill>
          <a:ln w="7620"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能力沉淀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从“项目制交付”转向“产品化与标准化”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4014216"/>
            <a:ext cx="3337560" cy="749808"/>
          </a:xfrm>
          <a:prstGeom prst="rect">
            <a:avLst/>
          </a:prstGeom>
          <a:solidFill>
            <a:srgbClr val="E9FAF7"/>
          </a:solidFill>
          <a:ln w="7620"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管理节奏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从“年度目标”转向“月度经营闭环”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4846320"/>
            <a:ext cx="1065276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846320"/>
            <a:ext cx="73152" cy="822960"/>
          </a:xfrm>
          <a:prstGeom prst="rect">
            <a:avLst/>
          </a:prstGeom>
          <a:solidFill>
            <a:srgbClr val="23B7A8"/>
          </a:solidFill>
          <a:ln w="12700">
            <a:solidFill>
              <a:srgbClr val="23B7A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00176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" y="534924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2026年不再只是“多卖一点”，而是要用更清晰的业务组合、更可复制的产品与更稳定的组织节奏，支撑高质量增长。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年度战略目标：一条主线、三大抓手、五个结果指标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353312"/>
            <a:ext cx="10058400" cy="457200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主线：以高质量增长为核心，提升利润率、现金流与客户生命周期价值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12848"/>
            <a:ext cx="3063240" cy="384048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业务增长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3063240" cy="1042416"/>
          </a:xfrm>
          <a:prstGeom prst="rect">
            <a:avLst/>
          </a:prstGeom>
          <a:solidFill>
            <a:srgbClr val="EAF4FF"/>
          </a:solidFill>
          <a:ln w="7620">
            <a:solidFill>
              <a:srgbClr val="EAF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聚焦高潜行业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打造标杆客户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提升复购与续费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212848"/>
            <a:ext cx="3063240" cy="384048"/>
          </a:xfrm>
          <a:prstGeom prst="rect">
            <a:avLst/>
          </a:prstGeom>
          <a:solidFill>
            <a:srgbClr val="23B7A8"/>
          </a:solidFill>
          <a:ln w="7620">
            <a:solidFill>
              <a:srgbClr val="23B7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724912"/>
            <a:ext cx="3063240" cy="1042416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交付自动化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费用精细化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2212848"/>
            <a:ext cx="3063240" cy="384048"/>
          </a:xfrm>
          <a:prstGeom prst="rect">
            <a:avLst/>
          </a:prstGeom>
          <a:solidFill>
            <a:srgbClr val="F0B429"/>
          </a:solidFill>
          <a:ln w="7620">
            <a:solidFill>
              <a:srgbClr val="F0B42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组织升级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724912"/>
            <a:ext cx="3063240" cy="1042416"/>
          </a:xfrm>
          <a:prstGeom prst="rect">
            <a:avLst/>
          </a:prstGeom>
          <a:solidFill>
            <a:srgbClr val="FFF4D6"/>
          </a:solidFill>
          <a:ln w="7620">
            <a:solidFill>
              <a:srgbClr val="FFF4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关键岗位补强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绩效与激励对齐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管理例会闭环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78024" y="3776472"/>
            <a:ext cx="0" cy="502920"/>
          </a:xfrm>
          <a:prstGeom prst="line">
            <a:avLst/>
          </a:prstGeom>
          <a:noFill/>
          <a:ln w="1651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3776472"/>
            <a:ext cx="0" cy="502920"/>
          </a:xfrm>
          <a:prstGeom prst="line">
            <a:avLst/>
          </a:prstGeom>
          <a:noFill/>
          <a:ln w="1651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76104" y="3776472"/>
            <a:ext cx="0" cy="502920"/>
          </a:xfrm>
          <a:prstGeom prst="line">
            <a:avLst/>
          </a:prstGeom>
          <a:noFill/>
          <a:ln w="1651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7240" y="4572000"/>
            <a:ext cx="18288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44952" y="4572000"/>
            <a:ext cx="18288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1.95亿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12664" y="4572000"/>
            <a:ext cx="18288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0376" y="4572000"/>
            <a:ext cx="18288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回款率96%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48088" y="4572000"/>
            <a:ext cx="18288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 ≥62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财务目标拆解：收入增长、利润改善、费用可控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58368" y="1417320"/>
          <a:ext cx="55321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29400" y="1481328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93992" y="1627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收入目标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93992" y="186537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15.5亿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93992" y="226771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+21% YoY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110728" y="1837944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+21% YoY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9326880" y="1481328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91472" y="1627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净利目标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491472" y="186537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1.95亿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491472" y="226771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+32% YoY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808208" y="1837944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5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+32% YoY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629400" y="2898648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93992" y="3044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费用率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93992" y="32826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B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28.5%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793992" y="368503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-1.8pp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110728" y="3255264"/>
            <a:ext cx="502920" cy="23774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B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-1.8pp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326880" y="2898648"/>
            <a:ext cx="214884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91472" y="3044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经营现金流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491472" y="32826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≥1.6亿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491472" y="368503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回款优先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58368" y="4892040"/>
            <a:ext cx="1065276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892040"/>
            <a:ext cx="73152" cy="78638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9536" y="504748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年度财务策略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59536" y="5394960"/>
            <a:ext cx="10287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资源向高毛利产品与高潜行业倾斜。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控制低效投放与非战略性支出。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将回款、库存与项目结项纳入月度经营例会。</a:t>
            </a:r>
            <a:endParaRPr lang="en-US" sz="920" dirty="0"/>
          </a:p>
        </p:txBody>
      </p:sp>
      <p:sp>
        <p:nvSpPr>
          <p:cNvPr id="32" name="Text 29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业务增长策略：用“行业聚焦 + 客户分层 + 复购运营”拉动增长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63040"/>
            <a:ext cx="3063240" cy="384048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行业聚焦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06324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选择3个高潜行业作为年度主战场，沉淀行业方案、案例与标准报价。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310128"/>
            <a:ext cx="3063240" cy="512064"/>
          </a:xfrm>
          <a:prstGeom prst="rect">
            <a:avLst/>
          </a:prstGeom>
          <a:solidFill>
            <a:srgbClr val="EAF4FF"/>
          </a:solidFill>
          <a:ln w="7620">
            <a:solidFill>
              <a:srgbClr val="EAF4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目标：行业收入占比提升至55%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35424" y="1463040"/>
            <a:ext cx="3063240" cy="384048"/>
          </a:xfrm>
          <a:prstGeom prst="rect">
            <a:avLst/>
          </a:prstGeom>
          <a:solidFill>
            <a:srgbClr val="23B7A8"/>
          </a:solidFill>
          <a:ln w="7620">
            <a:solidFill>
              <a:srgbClr val="23B7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029968"/>
            <a:ext cx="306324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建立大客户、成长客户与长尾客户的差异化经营策略，提高销售效率。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35424" y="3310128"/>
            <a:ext cx="3063240" cy="512064"/>
          </a:xfrm>
          <a:prstGeom prst="rect">
            <a:avLst/>
          </a:prstGeom>
          <a:solidFill>
            <a:srgbClr val="E9FAF7"/>
          </a:solidFill>
          <a:ln w="7620">
            <a:solidFill>
              <a:srgbClr val="E9FAF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目标：TOP50客户续费率≥92%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84464" y="1463040"/>
            <a:ext cx="3063240" cy="384048"/>
          </a:xfrm>
          <a:prstGeom prst="rect">
            <a:avLst/>
          </a:prstGeom>
          <a:solidFill>
            <a:srgbClr val="F0B429"/>
          </a:solidFill>
          <a:ln w="7620">
            <a:solidFill>
              <a:srgbClr val="F0B42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复购运营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029968"/>
            <a:ext cx="306324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围绕客户生命周期设计交叉销售、续费预警与增购机会识别机制。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84464" y="3310128"/>
            <a:ext cx="3063240" cy="512064"/>
          </a:xfrm>
          <a:prstGeom prst="rect">
            <a:avLst/>
          </a:prstGeom>
          <a:solidFill>
            <a:srgbClr val="FFF4D6"/>
          </a:solidFill>
          <a:ln w="7620">
            <a:solidFill>
              <a:srgbClr val="FFF4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目标：存量收入贡献≥45%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1417320" cy="685800"/>
          </a:xfrm>
          <a:prstGeom prst="rect">
            <a:avLst/>
          </a:prstGeom>
          <a:solidFill>
            <a:srgbClr val="EAF4FF"/>
          </a:solidFill>
          <a:ln w="762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5010912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00400" y="4663440"/>
            <a:ext cx="1417320" cy="685800"/>
          </a:xfrm>
          <a:prstGeom prst="rect">
            <a:avLst/>
          </a:prstGeom>
          <a:solidFill>
            <a:srgbClr val="EAF4FF"/>
          </a:solidFill>
          <a:ln w="762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5010912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40680" y="4663440"/>
            <a:ext cx="1417320" cy="685800"/>
          </a:xfrm>
          <a:prstGeom prst="rect">
            <a:avLst/>
          </a:prstGeom>
          <a:solidFill>
            <a:srgbClr val="E9FAF7"/>
          </a:solidFill>
          <a:ln w="762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1,600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5010912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80960" y="4663440"/>
            <a:ext cx="1417320" cy="685800"/>
          </a:xfrm>
          <a:prstGeom prst="rect">
            <a:avLst/>
          </a:prstGeom>
          <a:solidFill>
            <a:srgbClr val="E9FAF7"/>
          </a:solidFill>
          <a:ln w="762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5010912"/>
            <a:ext cx="685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921240" y="4663440"/>
            <a:ext cx="1417320" cy="685800"/>
          </a:xfrm>
          <a:prstGeom prst="rect">
            <a:avLst/>
          </a:prstGeom>
          <a:solidFill>
            <a:srgbClr val="FFF4D6"/>
          </a:solidFill>
          <a:ln w="762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续费/增购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增长漏斗目标（示例）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产品与服务路线图：提升可复制性与客户价值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17320"/>
            <a:ext cx="2331720" cy="384048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夯基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75304" y="1417320"/>
            <a:ext cx="2331720" cy="384048"/>
          </a:xfrm>
          <a:prstGeom prst="rect">
            <a:avLst/>
          </a:prstGeom>
          <a:solidFill>
            <a:srgbClr val="23B7A8"/>
          </a:solidFill>
          <a:ln w="7620">
            <a:solidFill>
              <a:srgbClr val="23B7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放大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4224" y="1417320"/>
            <a:ext cx="2331720" cy="384048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深化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53144" y="1417320"/>
            <a:ext cx="2331720" cy="384048"/>
          </a:xfrm>
          <a:prstGeom prst="rect">
            <a:avLst/>
          </a:prstGeom>
          <a:solidFill>
            <a:srgbClr val="23B7A8"/>
          </a:solidFill>
          <a:ln w="7620">
            <a:solidFill>
              <a:srgbClr val="23B7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规模化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057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核心产品2.0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084832" y="1938528"/>
            <a:ext cx="2057400" cy="438912"/>
          </a:xfrm>
          <a:prstGeom prst="rect">
            <a:avLst/>
          </a:prstGeom>
          <a:solidFill>
            <a:srgbClr val="FFF4D6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完善基础功能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统一数据口径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626864" y="1938528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完成MVP上线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168896" y="1938528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行业版本发布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710928" y="1938528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规模复制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786384" y="2807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行业解决方案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084832" y="2688336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筛选3个样板行业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626864" y="2688336"/>
            <a:ext cx="2057400" cy="438912"/>
          </a:xfrm>
          <a:prstGeom prst="rect">
            <a:avLst/>
          </a:prstGeom>
          <a:solidFill>
            <a:srgbClr val="FFF4D6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沉淀方案包与案例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168896" y="2688336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形成标准报价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9710928" y="2688336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打造10个标杆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86384" y="35570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交付体系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084832" y="3438144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梳理流程SOP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4626864" y="3438144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上线项目看板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7168896" y="3438144"/>
            <a:ext cx="2057400" cy="438912"/>
          </a:xfrm>
          <a:prstGeom prst="rect">
            <a:avLst/>
          </a:prstGeom>
          <a:solidFill>
            <a:srgbClr val="FFF4D6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自动化交付工具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9710928" y="3438144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交付成本下降15%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786384" y="43068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2084832" y="4187952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搭建健康度模型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626864" y="4187952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续费预警机制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168896" y="4187952"/>
            <a:ext cx="2057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增购触发策略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9710928" y="4187952"/>
            <a:ext cx="2057400" cy="438912"/>
          </a:xfrm>
          <a:prstGeom prst="rect">
            <a:avLst/>
          </a:prstGeom>
          <a:solidFill>
            <a:srgbClr val="FFF4D6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NPS≥62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86384" y="5486400"/>
            <a:ext cx="10469880" cy="5943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486400"/>
            <a:ext cx="73152" cy="594360"/>
          </a:xfrm>
          <a:prstGeom prst="rect">
            <a:avLst/>
          </a:prstGeom>
          <a:solidFill>
            <a:srgbClr val="23B7A8"/>
          </a:solidFill>
          <a:ln w="12700">
            <a:solidFill>
              <a:srgbClr val="23B7A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5641848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管理原则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5989320"/>
            <a:ext cx="10104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路线图采用季度滚动评审：每季度复盘用户价值、商业化结果与交付成本，必要时动态调整优先级。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市场与渠道计划：构建可归因、可复用的获客系统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40080" y="1353312"/>
          <a:ext cx="4343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40680" y="1417320"/>
            <a:ext cx="5394960" cy="69494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40680" y="1417320"/>
            <a:ext cx="73152" cy="694944"/>
          </a:xfrm>
          <a:prstGeom prst="rect">
            <a:avLst/>
          </a:prstGeom>
          <a:solidFill>
            <a:srgbClr val="1357A6"/>
          </a:solidFill>
          <a:ln w="12700">
            <a:solidFill>
              <a:srgbClr val="1357A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41848" y="1572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品牌内容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41848" y="1920240"/>
            <a:ext cx="5029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行业白皮书、标杆案例、专家直播，提升线索质量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5440680" y="2377440"/>
            <a:ext cx="5394960" cy="69494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40680" y="2377440"/>
            <a:ext cx="73152" cy="694944"/>
          </a:xfrm>
          <a:prstGeom prst="rect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41848" y="2532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数字投放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41848" y="2880360"/>
            <a:ext cx="5029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账户分层、素材A/B测试、CPA与ROI双指标管理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440680" y="3337560"/>
            <a:ext cx="5394960" cy="69494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40680" y="3337560"/>
            <a:ext cx="73152" cy="694944"/>
          </a:xfrm>
          <a:prstGeom prst="rect">
            <a:avLst/>
          </a:prstGeom>
          <a:solidFill>
            <a:srgbClr val="23B7A8"/>
          </a:solidFill>
          <a:ln w="12700">
            <a:solidFill>
              <a:srgbClr val="23B7A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41848" y="34930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伙伴生态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41848" y="3840480"/>
            <a:ext cx="5029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拓展重点区域与行业伙伴，联合方案与联合拜访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5440680" y="4297680"/>
            <a:ext cx="5394960" cy="69494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4297680"/>
            <a:ext cx="73152" cy="69494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41848" y="4453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客户运营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41848" y="4800600"/>
            <a:ext cx="5029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老客社群、续费预警、标杆客户转介绍机制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804672" y="5166360"/>
            <a:ext cx="10424160" cy="585216"/>
          </a:xfrm>
          <a:prstGeom prst="rect">
            <a:avLst/>
          </a:prstGeom>
          <a:solidFill>
            <a:srgbClr val="EAF4FF"/>
          </a:solidFill>
          <a:ln w="7620">
            <a:solidFill>
              <a:srgbClr val="EAF4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年度市场KPI：有效线索 +25%｜获客成本 -12%｜伙伴贡献收入 ≥20%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运营与组织保障：以机制驱动协同，以数据驱动决策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892808"/>
            <a:ext cx="1828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20840" y="1892808"/>
            <a:ext cx="0" cy="117043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950208"/>
            <a:ext cx="-182880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3063240"/>
            <a:ext cx="0" cy="-117043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280160" y="1463040"/>
            <a:ext cx="2560320" cy="822960"/>
          </a:xfrm>
          <a:prstGeom prst="rect">
            <a:avLst/>
          </a:prstGeom>
          <a:solidFill>
            <a:srgbClr val="EAF4FF"/>
          </a:solidFill>
          <a:ln w="762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年度目标拆解到季度、月度与部门责任人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463040"/>
            <a:ext cx="2560320" cy="822960"/>
          </a:xfrm>
          <a:prstGeom prst="rect">
            <a:avLst/>
          </a:prstGeom>
          <a:solidFill>
            <a:srgbClr val="E9FAF7"/>
          </a:solidFill>
          <a:ln w="762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关键指标上墙，周度问题跟踪与资源协调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3520440"/>
            <a:ext cx="2560320" cy="822960"/>
          </a:xfrm>
          <a:prstGeom prst="rect">
            <a:avLst/>
          </a:prstGeom>
          <a:solidFill>
            <a:srgbClr val="FFF4D6"/>
          </a:solidFill>
          <a:ln w="762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月度经营复盘，识别偏差并调整策略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2560320" cy="822960"/>
          </a:xfrm>
          <a:prstGeom prst="rect">
            <a:avLst/>
          </a:prstGeom>
          <a:solidFill>
            <a:srgbClr val="F4F3FF"/>
          </a:solidFill>
          <a:ln w="762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沉淀SOP、知识库与最佳实践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246120" cy="2971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73152" cy="2971800"/>
          </a:xfrm>
          <a:prstGeom prst="rect">
            <a:avLst/>
          </a:prstGeom>
          <a:solidFill>
            <a:srgbClr val="1357A6"/>
          </a:solidFill>
          <a:ln w="12700">
            <a:solidFill>
              <a:srgbClr val="1357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5727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组织重点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47888" y="1920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补强关键岗位：行业销售、产品经理、项目管理、客户成功。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建立经营驾驶舱：收入、毛利、回款、项目状态、客户健康度。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激励对齐：将收入增长、利润质量与回款效率纳入考核。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41248" y="5257800"/>
            <a:ext cx="106984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管理节奏：周例会看过程｜月度会看结果｜季度会定资源｜年度会做复盘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重点项目与里程碑：四条主线保障年度目标达成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234440"/>
            <a:ext cx="1069848" cy="29260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1234440"/>
            <a:ext cx="1069848" cy="29260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234440"/>
            <a:ext cx="1069848" cy="29260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1234440"/>
            <a:ext cx="1069848" cy="29260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06624" y="1600200"/>
            <a:ext cx="0" cy="2624328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9624" y="1600200"/>
            <a:ext cx="0" cy="2624328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2624" y="1600200"/>
            <a:ext cx="0" cy="2624328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600200"/>
            <a:ext cx="0" cy="2624328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8624" y="1600200"/>
            <a:ext cx="0" cy="2624328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600200"/>
            <a:ext cx="4553712" cy="0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6624" y="2313432"/>
            <a:ext cx="4553712" cy="0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06624" y="3026664"/>
            <a:ext cx="4553712" cy="0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06624" y="3739896"/>
            <a:ext cx="4553712" cy="0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4453128"/>
            <a:ext cx="4553712" cy="0"/>
          </a:xfrm>
          <a:prstGeom prst="line">
            <a:avLst/>
          </a:prstGeom>
          <a:noFill/>
          <a:ln w="762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行业方案升级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816352" y="1728216"/>
            <a:ext cx="4370832" cy="201168"/>
          </a:xfrm>
          <a:prstGeom prst="roundRect">
            <a:avLst/>
          </a:prstGeom>
          <a:solidFill>
            <a:srgbClr val="1357A6"/>
          </a:solidFill>
          <a:ln w="12700">
            <a:solidFill>
              <a:srgbClr val="1357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673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完成3个行业方案包与10个标杆案例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777240" y="2423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客户成功体系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816352" y="2441448"/>
            <a:ext cx="3227832" cy="201168"/>
          </a:xfrm>
          <a:prstGeom prst="roundRect">
            <a:avLst/>
          </a:prstGeom>
          <a:solidFill>
            <a:srgbClr val="23B7A8"/>
          </a:solidFill>
          <a:ln w="12700">
            <a:solidFill>
              <a:srgbClr val="23B7A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2386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上线健康度模型与续费预警机制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777240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交付效率提升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959352" y="3154680"/>
            <a:ext cx="3227832" cy="201168"/>
          </a:xfrm>
          <a:prstGeom prst="round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SOP与自动化工具覆盖80%项目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777240" y="3849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经营驾驶舱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816352" y="3867912"/>
            <a:ext cx="2084832" cy="201168"/>
          </a:xfrm>
          <a:prstGeom prst="roundRect">
            <a:avLst/>
          </a:prstGeom>
          <a:solidFill>
            <a:srgbClr val="F27C38"/>
          </a:solidFill>
          <a:ln w="12700">
            <a:solidFill>
              <a:srgbClr val="F27C3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3813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上线核心指标看板与月度经营机制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777240" y="5074920"/>
            <a:ext cx="10561320" cy="6766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4E7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074920"/>
            <a:ext cx="73152" cy="6766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52303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交付机制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8408" y="5577840"/>
            <a:ext cx="10195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每个重点项目明确 sponsor、项目负责人、里程碑、预算、风险清单与验收标准；每月在经营例会上滚动更新。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5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年度经营计划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风险预案与资源诉求：确保目标可落地、可纠偏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0" y="502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71600"/>
            <a:ext cx="123444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47672" y="1371600"/>
            <a:ext cx="219456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42232" y="1371600"/>
            <a:ext cx="2834640" cy="384048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17556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需求波动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947672" y="1755648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预算收紧导致销售周期拉长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142232" y="1755648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建立分层预测与回款预警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13232" y="2286000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竞争降价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947672" y="2286000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价格战挤压毛利空间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142232" y="2286000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强化方案价值与合同边界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13232" y="2816352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交付瓶颈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1947672" y="2816352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项目并发造成交付质量波动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142232" y="2816352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SOP、项目看板与外包资源池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713232" y="334670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人才缺口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947672" y="3346704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关键岗位招聘慢于业务节奏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142232" y="3346704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7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提前锁定岗位画像与激励方案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7360920" y="1389888"/>
            <a:ext cx="3566160" cy="347472"/>
          </a:xfrm>
          <a:prstGeom prst="rect">
            <a:avLst/>
          </a:prstGeom>
          <a:solidFill>
            <a:srgbClr val="0B1F3A"/>
          </a:solidFill>
          <a:ln w="762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资源诉求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1874520"/>
            <a:ext cx="3566160" cy="411480"/>
          </a:xfrm>
          <a:prstGeom prst="rect">
            <a:avLst/>
          </a:prstGeom>
          <a:solidFill>
            <a:srgbClr val="EAF4FF"/>
          </a:solidFill>
          <a:ln w="762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预算｜市场与渠道预算 +15%，聚焦高ROI渠道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360920" y="2496312"/>
            <a:ext cx="3566160" cy="411480"/>
          </a:xfrm>
          <a:prstGeom prst="rect">
            <a:avLst/>
          </a:prstGeom>
          <a:solidFill>
            <a:srgbClr val="E9FAF7"/>
          </a:solidFill>
          <a:ln w="762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人力｜新增关键岗位 18人，优先销售与交付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360920" y="3118104"/>
            <a:ext cx="3566160" cy="411480"/>
          </a:xfrm>
          <a:prstGeom prst="rect">
            <a:avLst/>
          </a:prstGeom>
          <a:solidFill>
            <a:srgbClr val="FFF4D6"/>
          </a:solidFill>
          <a:ln w="762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系统｜经营驾驶舱与项目管理工具投入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360920" y="3739896"/>
            <a:ext cx="3566160" cy="411480"/>
          </a:xfrm>
          <a:prstGeom prst="rect">
            <a:avLst/>
          </a:prstGeom>
          <a:solidFill>
            <a:srgbClr val="F4F3FF"/>
          </a:solidFill>
          <a:ln w="762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机制｜季度经营评审与重大项目专项会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10607040" cy="658368"/>
          </a:xfrm>
          <a:prstGeom prst="rect">
            <a:avLst/>
          </a:prstGeom>
          <a:solidFill>
            <a:srgbClr val="1357A6"/>
          </a:solidFill>
          <a:ln w="7620">
            <a:solidFill>
              <a:srgbClr val="1357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下一步：确认年度目标与资源边界 → 锁定重点项目责任人 → 形成月度经营看板 → 启动Q1专项推进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XX公司｜年度经营计划汇报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XX公司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年度经营计划汇报 PPT</dc:title>
  <dc:subject>年度经营计划汇报</dc:subject>
  <dc:creator>OpenAI</dc:creator>
  <cp:lastModifiedBy>OpenAI</cp:lastModifiedBy>
  <cp:revision>1</cp:revision>
  <dcterms:created xsi:type="dcterms:W3CDTF">2026-05-24T12:31:50Z</dcterms:created>
  <dcterms:modified xsi:type="dcterms:W3CDTF">2026-05-24T12:31:50Z</dcterms:modified>
</cp:coreProperties>
</file>